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3"/>
  </p:notesMasterIdLst>
  <p:sldIdLst>
    <p:sldId id="256" r:id="rId2"/>
    <p:sldId id="257" r:id="rId3"/>
    <p:sldId id="269" r:id="rId4"/>
    <p:sldId id="273" r:id="rId5"/>
    <p:sldId id="268" r:id="rId6"/>
    <p:sldId id="274" r:id="rId7"/>
    <p:sldId id="272" r:id="rId8"/>
    <p:sldId id="275" r:id="rId9"/>
    <p:sldId id="270" r:id="rId10"/>
    <p:sldId id="265" r:id="rId11"/>
    <p:sldId id="26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48" y="9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594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0015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Pushpam-1412/Diagnosis-of-Acute-Diseas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ijcrt.org/papers/IJCRT2401112.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ijrpr.com/uploads/V6ISSUE1/IJRPR37854.pdf" TargetMode="External"/><Relationship Id="rId5" Type="http://schemas.openxmlformats.org/officeDocument/2006/relationships/hyperlink" Target="https://www.indeed.com/career-advice/career-development/how-to-cite-a-research-paper" TargetMode="External"/><Relationship Id="rId4" Type="http://schemas.openxmlformats.org/officeDocument/2006/relationships/hyperlink" Target="https://ijrpr.com/uploads/V5ISSUE1/IJRPR21816.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altLang="en-GB" dirty="0">
                <a:solidFill>
                  <a:schemeClr val="tx1"/>
                </a:solidFill>
                <a:latin typeface="Cambria" panose="02040503050406030204" pitchFamily="18" charset="0"/>
                <a:ea typeface="Cambria" panose="02040503050406030204" pitchFamily="18" charset="0"/>
              </a:rPr>
              <a:t>D</a:t>
            </a:r>
            <a:r>
              <a:rPr lang="en-GB" dirty="0">
                <a:solidFill>
                  <a:schemeClr val="tx1"/>
                </a:solidFill>
                <a:latin typeface="Cambria" panose="02040503050406030204" pitchFamily="18" charset="0"/>
                <a:ea typeface="Cambria" panose="02040503050406030204" pitchFamily="18" charset="0"/>
              </a:rPr>
              <a:t>iagnosis of acute diseases in villages and smaller </a:t>
            </a:r>
            <a:br>
              <a:rPr lang="en-GB" dirty="0">
                <a:solidFill>
                  <a:schemeClr val="tx1"/>
                </a:solidFill>
                <a:latin typeface="Cambria" panose="02040503050406030204" pitchFamily="18" charset="0"/>
                <a:ea typeface="Cambria" panose="02040503050406030204" pitchFamily="18" charset="0"/>
              </a:rPr>
            </a:br>
            <a:r>
              <a:rPr lang="en-GB" dirty="0">
                <a:solidFill>
                  <a:schemeClr val="tx1"/>
                </a:solidFill>
                <a:latin typeface="Cambria" panose="02040503050406030204" pitchFamily="18" charset="0"/>
                <a:ea typeface="Cambria" panose="02040503050406030204" pitchFamily="18" charset="0"/>
              </a:rPr>
              <a:t>towns using AI</a:t>
            </a:r>
          </a:p>
        </p:txBody>
      </p:sp>
      <p:sp>
        <p:nvSpPr>
          <p:cNvPr id="88" name="Google Shape;88;p13"/>
          <p:cNvSpPr txBox="1">
            <a:spLocks noGrp="1"/>
          </p:cNvSpPr>
          <p:nvPr>
            <p:ph type="subTitle" idx="1"/>
          </p:nvPr>
        </p:nvSpPr>
        <p:spPr>
          <a:xfrm>
            <a:off x="949219" y="203219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US" altLang="en-GB" dirty="0">
                <a:latin typeface="Cambria" panose="02040503050406030204" pitchFamily="18" charset="0"/>
                <a:ea typeface="Cambria" panose="02040503050406030204" pitchFamily="18" charset="0"/>
              </a:rPr>
              <a:t>CEI-G23</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260350" y="2653030"/>
          <a:ext cx="6968490" cy="2194620"/>
        </p:xfrm>
        <a:graphic>
          <a:graphicData uri="http://schemas.openxmlformats.org/drawingml/2006/table">
            <a:tbl>
              <a:tblPr firstRow="1" bandRow="1">
                <a:noFill/>
                <a:tableStyleId>{57690726-49DA-4552-BDEB-330DD8EA8BD9}</a:tableStyleId>
              </a:tblPr>
              <a:tblGrid>
                <a:gridCol w="2680970">
                  <a:extLst>
                    <a:ext uri="{9D8B030D-6E8A-4147-A177-3AD203B41FA5}">
                      <a16:colId xmlns:a16="http://schemas.microsoft.com/office/drawing/2014/main" val="20000"/>
                    </a:ext>
                  </a:extLst>
                </a:gridCol>
                <a:gridCol w="4287520">
                  <a:extLst>
                    <a:ext uri="{9D8B030D-6E8A-4147-A177-3AD203B41FA5}">
                      <a16:colId xmlns:a16="http://schemas.microsoft.com/office/drawing/2014/main" val="20001"/>
                    </a:ext>
                  </a:extLst>
                </a:gridCol>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6576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indent="0" algn="ctr">
              <a:buClr>
                <a:srgbClr val="17365D"/>
              </a:buClr>
              <a:buSzPct val="100000"/>
              <a:buFont typeface="Arial" panose="020B0604020202020204"/>
              <a:buNone/>
            </a:pPr>
            <a:r>
              <a:rPr lang="en-GB" sz="2000" b="1"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PIP2001 Capstone Project</a:t>
            </a:r>
            <a:endParaRPr dirty="0">
              <a:latin typeface="Cambria" panose="02040503050406030204" pitchFamily="18" charset="0"/>
              <a:ea typeface="Cambria" panose="02040503050406030204" pitchFamily="18" charset="0"/>
            </a:endParaRPr>
          </a:p>
          <a:p>
            <a:pPr marL="0" indent="0" algn="ctr">
              <a:spcBef>
                <a:spcPts val="310"/>
              </a:spcBef>
              <a:buClr>
                <a:srgbClr val="17365D"/>
              </a:buClr>
              <a:buSzPct val="100000"/>
              <a:buFont typeface="Arial" panose="020B0604020202020204"/>
              <a:buNone/>
            </a:pPr>
            <a:r>
              <a:rPr lang="en-GB" sz="2000" b="1"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Final Review</a:t>
            </a:r>
            <a:endParaRPr sz="2000" b="1"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indent="0">
              <a:buClr>
                <a:srgbClr val="17365D"/>
              </a:buClr>
              <a:buSzPct val="100000"/>
              <a:buFont typeface="Arial" panose="020B0604020202020204"/>
              <a:buNone/>
            </a:pPr>
            <a:r>
              <a:rPr lang="en-US" sz="2000" b="1"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cap="none" dirty="0">
                <a:ln/>
                <a:solidFill>
                  <a:schemeClr val="tx1"/>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Verdana" panose="020B0604030504040204"/>
                <a:sym typeface="Verdana" panose="020B0604030504040204"/>
              </a:rPr>
              <a:t>Computer Engineering </a:t>
            </a:r>
            <a:r>
              <a:rPr lang="en-US" sz="2000" b="1" dirty="0">
                <a:ln/>
                <a:solidFill>
                  <a:schemeClr val="tx1"/>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Verdana" panose="020B0604030504040204"/>
                <a:sym typeface="Verdana" panose="020B0604030504040204"/>
              </a:rPr>
              <a:t>(</a:t>
            </a:r>
            <a:r>
              <a:rPr lang="en-US" sz="2000" b="1" cap="none" dirty="0">
                <a:ln/>
                <a:solidFill>
                  <a:schemeClr val="tx1"/>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Verdana" panose="020B0604030504040204"/>
                <a:sym typeface="Verdana" panose="020B0604030504040204"/>
              </a:rPr>
              <a:t>Artificial Intelligence &amp; Machine Learning)</a:t>
            </a:r>
            <a:endParaRPr lang="en-US" sz="2000" b="1"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indent="0">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ln/>
                <a:solidFill>
                  <a:schemeClr val="tx1"/>
                </a:solidFill>
                <a:effectLst>
                  <a:outerShdw blurRad="38100" dist="19050" dir="2700000" algn="tl" rotWithShape="0">
                    <a:schemeClr val="dk1">
                      <a:alpha val="40000"/>
                    </a:schemeClr>
                  </a:outerShdw>
                </a:effectLst>
                <a:latin typeface="Cambria" panose="02040503050406030204" pitchFamily="18" charset="0"/>
                <a:ea typeface="Cambria" panose="02040503050406030204" pitchFamily="18" charset="0"/>
                <a:cs typeface="Verdana" panose="020B0604030504040204"/>
                <a:sym typeface="Verdana" panose="020B0604030504040204"/>
              </a:rPr>
              <a:t>Gopal Krishnan</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indent="0">
              <a:buClr>
                <a:srgbClr val="17365D"/>
              </a:buClr>
              <a:buSzPct val="100000"/>
              <a:buFont typeface="Arial" panose="020B0604020202020204"/>
              <a:buNone/>
            </a:pPr>
            <a:r>
              <a:rPr lang="en-US" sz="2000" b="1"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2000" b="1"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Dr.Pallavi</a:t>
            </a:r>
            <a:endParaRPr lang="en-US" sz="2000" b="1"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2000" b="1"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Abdul Khadar A / Mr. Md Ziaur Rahman</a:t>
            </a:r>
            <a:endParaRPr sz="2000" b="1"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3" name="Table 2"/>
          <p:cNvGraphicFramePr/>
          <p:nvPr>
            <p:extLst>
              <p:ext uri="{D42A27DB-BD31-4B8C-83A1-F6EECF244321}">
                <p14:modId xmlns:p14="http://schemas.microsoft.com/office/powerpoint/2010/main" val="845102844"/>
              </p:ext>
            </p:extLst>
          </p:nvPr>
        </p:nvGraphicFramePr>
        <p:xfrm>
          <a:off x="260350" y="2994660"/>
          <a:ext cx="6968490" cy="1539240"/>
        </p:xfrm>
        <a:graphic>
          <a:graphicData uri="http://schemas.openxmlformats.org/drawingml/2006/table">
            <a:tbl>
              <a:tblPr firstRow="1" bandRow="1">
                <a:tableStyleId>{5C22544A-7EE6-4342-B048-85BDC9FD1C3A}</a:tableStyleId>
              </a:tblPr>
              <a:tblGrid>
                <a:gridCol w="3484245">
                  <a:extLst>
                    <a:ext uri="{9D8B030D-6E8A-4147-A177-3AD203B41FA5}">
                      <a16:colId xmlns:a16="http://schemas.microsoft.com/office/drawing/2014/main" val="20000"/>
                    </a:ext>
                  </a:extLst>
                </a:gridCol>
                <a:gridCol w="3484245">
                  <a:extLst>
                    <a:ext uri="{9D8B030D-6E8A-4147-A177-3AD203B41FA5}">
                      <a16:colId xmlns:a16="http://schemas.microsoft.com/office/drawing/2014/main" val="20001"/>
                    </a:ext>
                  </a:extLst>
                </a:gridCol>
              </a:tblGrid>
              <a:tr h="304800">
                <a:tc>
                  <a:txBody>
                    <a:bodyPr/>
                    <a:lstStyle/>
                    <a:p>
                      <a:pPr>
                        <a:buNone/>
                      </a:pPr>
                      <a:r>
                        <a:rPr lang="en-US"/>
                        <a:t>20211CEI0063</a:t>
                      </a:r>
                    </a:p>
                  </a:txBody>
                  <a:tcPr/>
                </a:tc>
                <a:tc>
                  <a:txBody>
                    <a:bodyPr/>
                    <a:lstStyle/>
                    <a:p>
                      <a:pPr>
                        <a:buNone/>
                      </a:pPr>
                      <a:r>
                        <a:rPr lang="en-US" dirty="0"/>
                        <a:t>Pushpam Agrawal (Leader)</a:t>
                      </a:r>
                    </a:p>
                  </a:txBody>
                  <a:tcPr/>
                </a:tc>
                <a:extLst>
                  <a:ext uri="{0D108BD9-81ED-4DB2-BD59-A6C34878D82A}">
                    <a16:rowId xmlns:a16="http://schemas.microsoft.com/office/drawing/2014/main" val="10000"/>
                  </a:ext>
                </a:extLst>
              </a:tr>
              <a:tr h="320040">
                <a:tc>
                  <a:txBody>
                    <a:bodyPr/>
                    <a:lstStyle/>
                    <a:p>
                      <a:pPr>
                        <a:buNone/>
                      </a:pPr>
                      <a:r>
                        <a:rPr lang="en-US"/>
                        <a:t>20211CEI0064</a:t>
                      </a:r>
                    </a:p>
                  </a:txBody>
                  <a:tcPr/>
                </a:tc>
                <a:tc>
                  <a:txBody>
                    <a:bodyPr/>
                    <a:lstStyle/>
                    <a:p>
                      <a:pPr>
                        <a:buNone/>
                      </a:pPr>
                      <a:r>
                        <a:rPr lang="en-US" dirty="0"/>
                        <a:t>Abdul Rahman Mansoori</a:t>
                      </a:r>
                    </a:p>
                  </a:txBody>
                  <a:tcPr/>
                </a:tc>
                <a:extLst>
                  <a:ext uri="{0D108BD9-81ED-4DB2-BD59-A6C34878D82A}">
                    <a16:rowId xmlns:a16="http://schemas.microsoft.com/office/drawing/2014/main" val="10001"/>
                  </a:ext>
                </a:extLst>
              </a:tr>
              <a:tr h="304800">
                <a:tc>
                  <a:txBody>
                    <a:bodyPr/>
                    <a:lstStyle/>
                    <a:p>
                      <a:pPr>
                        <a:buNone/>
                      </a:pPr>
                      <a:r>
                        <a:rPr lang="en-US"/>
                        <a:t>20211CEI0087</a:t>
                      </a:r>
                    </a:p>
                  </a:txBody>
                  <a:tcPr/>
                </a:tc>
                <a:tc>
                  <a:txBody>
                    <a:bodyPr/>
                    <a:lstStyle/>
                    <a:p>
                      <a:pPr>
                        <a:buNone/>
                      </a:pPr>
                      <a:r>
                        <a:rPr lang="en-US" dirty="0"/>
                        <a:t>Sawood Ahmed</a:t>
                      </a:r>
                    </a:p>
                  </a:txBody>
                  <a:tcPr/>
                </a:tc>
                <a:extLst>
                  <a:ext uri="{0D108BD9-81ED-4DB2-BD59-A6C34878D82A}">
                    <a16:rowId xmlns:a16="http://schemas.microsoft.com/office/drawing/2014/main" val="10002"/>
                  </a:ext>
                </a:extLst>
              </a:tr>
              <a:tr h="304800">
                <a:tc>
                  <a:txBody>
                    <a:bodyPr/>
                    <a:lstStyle/>
                    <a:p>
                      <a:pPr>
                        <a:buNone/>
                      </a:pPr>
                      <a:r>
                        <a:rPr lang="en-US"/>
                        <a:t>20211CEI0085</a:t>
                      </a:r>
                    </a:p>
                  </a:txBody>
                  <a:tcPr/>
                </a:tc>
                <a:tc>
                  <a:txBody>
                    <a:bodyPr/>
                    <a:lstStyle/>
                    <a:p>
                      <a:pPr>
                        <a:buNone/>
                      </a:pPr>
                      <a:r>
                        <a:rPr lang="en-US" dirty="0" err="1"/>
                        <a:t>Chethan</a:t>
                      </a:r>
                      <a:r>
                        <a:rPr lang="en-US" dirty="0"/>
                        <a:t> S. G.</a:t>
                      </a:r>
                    </a:p>
                  </a:txBody>
                  <a:tcPr/>
                </a:tc>
                <a:extLst>
                  <a:ext uri="{0D108BD9-81ED-4DB2-BD59-A6C34878D82A}">
                    <a16:rowId xmlns:a16="http://schemas.microsoft.com/office/drawing/2014/main" val="10003"/>
                  </a:ext>
                </a:extLst>
              </a:tr>
              <a:tr h="304800">
                <a:tc>
                  <a:txBody>
                    <a:bodyPr/>
                    <a:lstStyle/>
                    <a:p>
                      <a:pPr>
                        <a:buNone/>
                      </a:pPr>
                      <a:r>
                        <a:rPr lang="en-US" dirty="0"/>
                        <a:t>20211CEI0076</a:t>
                      </a:r>
                    </a:p>
                  </a:txBody>
                  <a:tcPr/>
                </a:tc>
                <a:tc>
                  <a:txBody>
                    <a:bodyPr/>
                    <a:lstStyle/>
                    <a:p>
                      <a:pPr>
                        <a:buNone/>
                      </a:pPr>
                      <a:r>
                        <a:rPr lang="en-US" dirty="0" err="1"/>
                        <a:t>Abhijeeth</a:t>
                      </a:r>
                      <a:r>
                        <a:rPr lang="en-US" dirty="0"/>
                        <a:t> V.</a:t>
                      </a:r>
                    </a:p>
                  </a:txBody>
                  <a:tcPr/>
                </a:tc>
                <a:extLst>
                  <a:ext uri="{0D108BD9-81ED-4DB2-BD59-A6C34878D82A}">
                    <a16:rowId xmlns:a16="http://schemas.microsoft.com/office/drawing/2014/main" val="10004"/>
                  </a:ext>
                </a:extLst>
              </a:tr>
            </a:tbl>
          </a:graphicData>
        </a:graphic>
      </p:graphicFrame>
      <p:sp>
        <p:nvSpPr>
          <p:cNvPr id="2" name="Subtitle 2">
            <a:extLst>
              <a:ext uri="{FF2B5EF4-FFF2-40B4-BE49-F238E27FC236}">
                <a16:creationId xmlns:a16="http://schemas.microsoft.com/office/drawing/2014/main" id="{5CF52B1B-A604-49B3-4ECE-514B9A139C24}"/>
              </a:ext>
            </a:extLst>
          </p:cNvPr>
          <p:cNvSpPr txBox="1">
            <a:spLocks/>
          </p:cNvSpPr>
          <p:nvPr/>
        </p:nvSpPr>
        <p:spPr>
          <a:xfrm>
            <a:off x="7489189" y="2212257"/>
            <a:ext cx="4919475" cy="2194621"/>
          </a:xfrm>
          <a:prstGeom prst="rect">
            <a:avLst/>
          </a:prstGeom>
        </p:spPr>
        <p:txBody>
          <a:bodyPr vert="horz" lIns="91440" tIns="45720" rIns="91440" bIns="45720" rtlCol="0">
            <a:normAutofit fontScale="92500" lnSpcReduction="10000"/>
          </a:bodyPr>
          <a:lstStyle>
            <a:defPPr>
              <a:defRPr lang="en-US"/>
            </a:defPPr>
            <a:lvl1pPr marL="0" indent="0" algn="ctr" defTabSz="914400" rtl="0" eaLnBrk="1" latinLnBrk="0" hangingPunct="1">
              <a:spcBef>
                <a:spcPct val="20000"/>
              </a:spcBef>
              <a:buFont typeface="Arial" pitchFamily="34" charset="0"/>
              <a:buNone/>
              <a:defRPr sz="2000" b="1" kern="1200">
                <a:solidFill>
                  <a:schemeClr val="tx2">
                    <a:lumMod val="75000"/>
                  </a:schemeClr>
                </a:solidFill>
                <a:latin typeface="Verdana" pitchFamily="34" charset="0"/>
                <a:ea typeface="Verdana" pitchFamily="34" charset="0"/>
                <a:cs typeface="Verdana" pitchFamily="34" charset="0"/>
              </a:defRPr>
            </a:lvl1pPr>
            <a:lvl2pPr marL="457200" indent="0" algn="ctr" defTabSz="914400" rtl="0" eaLnBrk="1" latinLnBrk="0" hangingPunct="1">
              <a:spcBef>
                <a:spcPct val="20000"/>
              </a:spcBef>
              <a:buFont typeface="Arial" pitchFamily="34" charset="0"/>
              <a:buNone/>
              <a:defRPr sz="2000" kern="1200">
                <a:solidFill>
                  <a:schemeClr val="tx1">
                    <a:tint val="75000"/>
                  </a:schemeClr>
                </a:solidFill>
                <a:latin typeface="Verdana" pitchFamily="34" charset="0"/>
                <a:ea typeface="Verdana" pitchFamily="34" charset="0"/>
                <a:cs typeface="Verdana" pitchFamily="34" charset="0"/>
              </a:defRPr>
            </a:lvl2pPr>
            <a:lvl3pPr marL="914400" indent="0" algn="ctr" defTabSz="914400" rtl="0" eaLnBrk="1" latinLnBrk="0" hangingPunct="1">
              <a:spcBef>
                <a:spcPct val="20000"/>
              </a:spcBef>
              <a:buFont typeface="Arial" pitchFamily="34" charset="0"/>
              <a:buNone/>
              <a:defRPr sz="1800" kern="1200">
                <a:solidFill>
                  <a:schemeClr val="tx1">
                    <a:tint val="75000"/>
                  </a:schemeClr>
                </a:solidFill>
                <a:latin typeface="Verdana" pitchFamily="34" charset="0"/>
                <a:ea typeface="Verdana" pitchFamily="34" charset="0"/>
                <a:cs typeface="Verdana" pitchFamily="34" charset="0"/>
              </a:defRPr>
            </a:lvl3pPr>
            <a:lvl4pPr marL="13716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GB" dirty="0">
                <a:solidFill>
                  <a:schemeClr val="bg2"/>
                </a:solidFill>
              </a:rPr>
              <a:t>Under the Supervision of,</a:t>
            </a:r>
          </a:p>
          <a:p>
            <a:endParaRPr lang="en-GB" dirty="0">
              <a:solidFill>
                <a:schemeClr val="bg2"/>
              </a:solidFill>
            </a:endParaRPr>
          </a:p>
          <a:p>
            <a:pPr algn="l"/>
            <a:r>
              <a:rPr lang="en-GB" sz="1700" dirty="0">
                <a:solidFill>
                  <a:schemeClr val="bg2"/>
                </a:solidFill>
              </a:rPr>
              <a:t>Dr. Pajany M.</a:t>
            </a:r>
          </a:p>
          <a:p>
            <a:pPr algn="l"/>
            <a:r>
              <a:rPr lang="en-GB" sz="1700" dirty="0">
                <a:solidFill>
                  <a:schemeClr val="bg2"/>
                </a:solidFill>
              </a:rPr>
              <a:t>Professor / Associate Professor / Assistant Professor</a:t>
            </a:r>
          </a:p>
          <a:p>
            <a:pPr algn="l"/>
            <a:r>
              <a:rPr lang="en-GB" sz="1700" dirty="0">
                <a:solidFill>
                  <a:schemeClr val="bg2"/>
                </a:solidFill>
              </a:rPr>
              <a:t>School of Computer Science &amp; Engineering</a:t>
            </a:r>
          </a:p>
          <a:p>
            <a:pPr algn="l"/>
            <a:r>
              <a:rPr lang="en-GB" sz="1700" dirty="0">
                <a:solidFill>
                  <a:schemeClr val="bg2"/>
                </a:solidFill>
              </a:rPr>
              <a:t>Presidency University</a:t>
            </a:r>
          </a:p>
          <a:p>
            <a:pPr algn="l"/>
            <a:endParaRPr lang="en-GB"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Number:</a:t>
            </a:r>
            <a:r>
              <a:rPr lang="en-US" altLang="en-GB" dirty="0">
                <a:latin typeface="Cambria" panose="02040503050406030204" pitchFamily="18" charset="0"/>
                <a:ea typeface="Cambria" panose="02040503050406030204" pitchFamily="18" charset="0"/>
              </a:rPr>
              <a:t> PSCS46</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0000" lnSpcReduction="1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Max Healthcare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Supply of doctors is limited in India especially in smaller towns and villages making provision of healthcare difficult to a large number of people. Telemedicine and other solutions in the past have also struggled to scale up due to this problem. Now in the age of digital assistants like Google and Alexa, can we create artificial intelligence based "doctor" that can diagnose everyday acute diseases like common cold, flu, etc, based on simple questions?</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Difficulty Level: Complicated</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431C-8825-41D0-806B-238933B23791}"/>
              </a:ext>
            </a:extLst>
          </p:cNvPr>
          <p:cNvSpPr>
            <a:spLocks noGrp="1"/>
          </p:cNvSpPr>
          <p:nvPr>
            <p:ph type="title"/>
          </p:nvPr>
        </p:nvSpPr>
        <p:spPr/>
        <p:txBody>
          <a:bodyPr/>
          <a:lstStyle/>
          <a:p>
            <a:r>
              <a:rPr lang="en-US" dirty="0"/>
              <a:t>GitHub Link</a:t>
            </a:r>
          </a:p>
        </p:txBody>
      </p:sp>
      <p:sp>
        <p:nvSpPr>
          <p:cNvPr id="3" name="Text Placeholder 2">
            <a:extLst>
              <a:ext uri="{FF2B5EF4-FFF2-40B4-BE49-F238E27FC236}">
                <a16:creationId xmlns:a16="http://schemas.microsoft.com/office/drawing/2014/main" id="{92B60229-2662-FCFE-A550-0A816C00C0C6}"/>
              </a:ext>
            </a:extLst>
          </p:cNvPr>
          <p:cNvSpPr>
            <a:spLocks noGrp="1"/>
          </p:cNvSpPr>
          <p:nvPr>
            <p:ph type="body" idx="1"/>
          </p:nvPr>
        </p:nvSpPr>
        <p:spPr/>
        <p:txBody>
          <a:bodyPr/>
          <a:lstStyle/>
          <a:p>
            <a:r>
              <a:rPr lang="en-US" dirty="0"/>
              <a:t>The GitHub link provided should have public access permission.</a:t>
            </a:r>
          </a:p>
          <a:p>
            <a:r>
              <a:rPr lang="en-US" dirty="0"/>
              <a:t>GitHub Link:-</a:t>
            </a:r>
          </a:p>
          <a:p>
            <a:pPr marL="76200" indent="0">
              <a:buNone/>
            </a:pPr>
            <a:r>
              <a:rPr lang="en-US" dirty="0"/>
              <a:t>	</a:t>
            </a:r>
            <a:r>
              <a:rPr lang="en-US" dirty="0">
                <a:hlinkClick r:id="rId2"/>
              </a:rPr>
              <a:t>https://github.com/Pushpam-1412/Diagnosis-of-Acute-Disease</a:t>
            </a:r>
            <a:endParaRPr lang="en-US" dirty="0"/>
          </a:p>
        </p:txBody>
      </p:sp>
    </p:spTree>
    <p:extLst>
      <p:ext uri="{BB962C8B-B14F-4D97-AF65-F5344CB8AC3E}">
        <p14:creationId xmlns:p14="http://schemas.microsoft.com/office/powerpoint/2010/main" val="7938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r>
              <a:rPr lang="en-US" b="1" dirty="0"/>
              <a:t>Key Challenges:</a:t>
            </a:r>
          </a:p>
          <a:p>
            <a:pPr marL="76200" indent="0">
              <a:buNone/>
            </a:pPr>
            <a:r>
              <a:rPr lang="en-US" b="1" dirty="0"/>
              <a:t>a) Shortage of Doctors:</a:t>
            </a:r>
            <a:endParaRPr lang="en-US" dirty="0"/>
          </a:p>
          <a:p>
            <a:pPr marL="742950" lvl="1" indent="-285750">
              <a:buFont typeface="+mj-lt"/>
              <a:buAutoNum type="arabicPeriod"/>
            </a:pPr>
            <a:r>
              <a:rPr lang="en-US" dirty="0"/>
              <a:t>Rural and semi-urban areas often lack sufficient medical professionals, resulting in delayed treatments or unavailability of timely healthcare.</a:t>
            </a:r>
          </a:p>
          <a:p>
            <a:pPr marL="742950" lvl="1" indent="-285750">
              <a:buFont typeface="+mj-lt"/>
              <a:buAutoNum type="arabicPeriod"/>
            </a:pPr>
            <a:r>
              <a:rPr lang="en-US" dirty="0"/>
              <a:t>Existing telemedicine solutions still require doctors on the other end, which limits scalability when a large population requires access to healthcare.</a:t>
            </a:r>
          </a:p>
          <a:p>
            <a:pPr marL="76200" indent="0">
              <a:buNone/>
            </a:pPr>
            <a:r>
              <a:rPr lang="en-US" b="1" dirty="0"/>
              <a:t>b) Telemedicine Limitations:</a:t>
            </a:r>
            <a:endParaRPr lang="en-US" dirty="0"/>
          </a:p>
          <a:p>
            <a:pPr marL="742950" lvl="1" indent="-285750">
              <a:buFont typeface="+mj-lt"/>
              <a:buAutoNum type="arabicPeriod"/>
            </a:pPr>
            <a:r>
              <a:rPr lang="en-US" dirty="0"/>
              <a:t>While telemedicine reduces physical barriers, it still relies heavily on human doctors, thus suffering from the same bottleneck of limited availability.</a:t>
            </a:r>
          </a:p>
          <a:p>
            <a:pPr marL="742950" lvl="1" indent="-285750">
              <a:buFont typeface="+mj-lt"/>
              <a:buAutoNum type="arabicPeriod"/>
            </a:pPr>
            <a:r>
              <a:rPr lang="en-US" dirty="0"/>
              <a:t>The effectiveness of telemedicine platforms depends on good internet connectivity, which may not always be available in remote areas.</a:t>
            </a:r>
          </a:p>
          <a:p>
            <a:pPr marL="76200" indent="0">
              <a:buNone/>
            </a:pPr>
            <a:r>
              <a:rPr lang="en-US" b="1" dirty="0"/>
              <a:t>c) Lack of Scalability:</a:t>
            </a:r>
            <a:endParaRPr lang="en-US" dirty="0"/>
          </a:p>
          <a:p>
            <a:pPr marL="742950" lvl="1" indent="-285750">
              <a:buFont typeface="+mj-lt"/>
              <a:buAutoNum type="arabicPeriod"/>
            </a:pPr>
            <a:r>
              <a:rPr lang="en-US" dirty="0"/>
              <a:t>Existing healthcare models and telemedicine platforms have struggled to scale because they are resource-intensive and not fully automated. Scaling up requires either more human resources or advanced AI-driven</a:t>
            </a: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r>
              <a:rPr kumimoji="0" lang="en-US" sz="2000" b="1" i="0" u="none" strike="noStrike" kern="0" cap="none" spc="0" normalizeH="0" baseline="0" noProof="0" dirty="0">
                <a:ln>
                  <a:noFill/>
                </a:ln>
                <a:solidFill>
                  <a:srgbClr val="17365D"/>
                </a:solidFill>
                <a:effectLst/>
                <a:uLnTx/>
                <a:uFillTx/>
                <a:latin typeface="Cambria" panose="02040503050406030204" pitchFamily="18" charset="0"/>
                <a:ea typeface="Cambria" panose="02040503050406030204" pitchFamily="18" charset="0"/>
                <a:sym typeface="Verdana" panose="020B0604030504040204"/>
              </a:rPr>
              <a:t>  (contd...)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r>
              <a:rPr lang="en-US" b="1" dirty="0"/>
              <a:t>Feasibility and Components of AI-based Diagnosis System:</a:t>
            </a:r>
          </a:p>
          <a:p>
            <a:pPr marL="76200" indent="0">
              <a:buNone/>
            </a:pPr>
            <a:r>
              <a:rPr lang="en-US" b="1" dirty="0"/>
              <a:t>a) Data-Driven Diagnosis:</a:t>
            </a:r>
            <a:endParaRPr lang="en-US" dirty="0"/>
          </a:p>
          <a:p>
            <a:pPr marL="742950" lvl="1" indent="-285750">
              <a:buFont typeface="+mj-lt"/>
              <a:buAutoNum type="arabicPeriod"/>
            </a:pPr>
            <a:r>
              <a:rPr lang="en-US" b="1" dirty="0"/>
              <a:t>Training AI models</a:t>
            </a:r>
            <a:r>
              <a:rPr lang="en-US" dirty="0"/>
              <a:t> on large medical datasets can allow the system to learn from symptoms and make informed guesses about possible diagnoses. AI models like decision trees, random forests, or deep learning techniques can be trained on symptoms and patient histories to predict likely conditions.</a:t>
            </a:r>
          </a:p>
          <a:p>
            <a:pPr marL="742950" lvl="1" indent="-285750">
              <a:buFont typeface="+mj-lt"/>
              <a:buAutoNum type="arabicPeriod"/>
            </a:pPr>
            <a:r>
              <a:rPr lang="en-US" b="1" dirty="0"/>
              <a:t>Bayesian networks</a:t>
            </a:r>
            <a:r>
              <a:rPr lang="en-US" dirty="0"/>
              <a:t> or probabilistic models can help in decision-making based on symptoms, enabling the AI to make reasonable guesses even when complete data is unavailable.</a:t>
            </a:r>
          </a:p>
          <a:p>
            <a:pPr marL="76200" indent="0">
              <a:buNone/>
            </a:pPr>
            <a:r>
              <a:rPr lang="en-US" b="1" dirty="0"/>
              <a:t>b) NLP for Interaction:</a:t>
            </a:r>
            <a:endParaRPr lang="en-US" dirty="0"/>
          </a:p>
          <a:p>
            <a:pPr marL="742950" lvl="1" indent="-285750">
              <a:buFont typeface="+mj-lt"/>
              <a:buAutoNum type="arabicPeriod"/>
            </a:pPr>
            <a:r>
              <a:rPr lang="en-US" dirty="0"/>
              <a:t>Using </a:t>
            </a:r>
            <a:r>
              <a:rPr lang="en-US" b="1" dirty="0"/>
              <a:t>Natural Language Processing (NLP)</a:t>
            </a:r>
            <a:r>
              <a:rPr lang="en-US" dirty="0"/>
              <a:t>, the AI can ask patients questions about their symptoms (such as "Do you have a fever?" or "How long have you had a sore throat?"). Based on their responses, the AI can analyze their conditions.</a:t>
            </a:r>
          </a:p>
          <a:p>
            <a:pPr marL="742950" lvl="1" indent="-285750">
              <a:buFont typeface="+mj-lt"/>
              <a:buAutoNum type="arabicPeriod"/>
            </a:pPr>
            <a:r>
              <a:rPr lang="en-US" dirty="0"/>
              <a:t>NLP models like </a:t>
            </a:r>
            <a:r>
              <a:rPr lang="en-US" b="1" dirty="0"/>
              <a:t>BERT</a:t>
            </a:r>
            <a:r>
              <a:rPr lang="en-US" dirty="0"/>
              <a:t> or </a:t>
            </a:r>
            <a:r>
              <a:rPr lang="en-US" b="1" dirty="0"/>
              <a:t>GPT-4</a:t>
            </a:r>
            <a:r>
              <a:rPr lang="en-US" dirty="0"/>
              <a:t> can help the AI understand patient responses and engage in conversations to gather relevant information.</a:t>
            </a:r>
          </a:p>
        </p:txBody>
      </p:sp>
    </p:spTree>
    <p:extLst>
      <p:ext uri="{BB962C8B-B14F-4D97-AF65-F5344CB8AC3E}">
        <p14:creationId xmlns:p14="http://schemas.microsoft.com/office/powerpoint/2010/main" val="4074548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82659"/>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u="sng" dirty="0">
                <a:latin typeface="Cambria" panose="02040503050406030204" pitchFamily="18" charset="0"/>
                <a:ea typeface="Cambria" panose="02040503050406030204" pitchFamily="18" charset="0"/>
              </a:rPr>
              <a:t>Software and Hardware Requirements: </a:t>
            </a:r>
          </a:p>
          <a:p>
            <a:pPr rtl="0">
              <a:spcBef>
                <a:spcPts val="1200"/>
              </a:spcBef>
              <a:spcAft>
                <a:spcPts val="200"/>
              </a:spcAft>
            </a:pPr>
            <a:r>
              <a:rPr lang="en-US" sz="1800" b="1" i="0" u="none" strike="noStrike" dirty="0">
                <a:solidFill>
                  <a:srgbClr val="000000"/>
                </a:solidFill>
                <a:effectLst/>
                <a:latin typeface="Cambria" panose="02040503050406030204" pitchFamily="18" charset="0"/>
              </a:rPr>
              <a:t>Software Requirements:</a:t>
            </a:r>
            <a:endParaRPr lang="en-US" sz="18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Operating System</a:t>
            </a:r>
            <a:r>
              <a:rPr lang="en-US" sz="1800" b="0" i="0" u="none" strike="noStrike" dirty="0">
                <a:solidFill>
                  <a:srgbClr val="000000"/>
                </a:solidFill>
                <a:effectLst/>
                <a:latin typeface="Cambria" panose="02040503050406030204" pitchFamily="18" charset="0"/>
              </a:rPr>
              <a:t>: Windows 10 or greater</a:t>
            </a:r>
            <a:endParaRPr lang="en-US" sz="18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Python</a:t>
            </a:r>
            <a:r>
              <a:rPr lang="en-US" sz="1800" b="0" i="0" u="none" strike="noStrike" dirty="0">
                <a:solidFill>
                  <a:srgbClr val="000000"/>
                </a:solidFill>
                <a:effectLst/>
                <a:latin typeface="Cambria" panose="02040503050406030204" pitchFamily="18" charset="0"/>
              </a:rPr>
              <a:t>: Version 3.12.4</a:t>
            </a:r>
            <a:endParaRPr lang="en-US" sz="1800" b="0" dirty="0">
              <a:effectLst/>
            </a:endParaRPr>
          </a:p>
          <a:p>
            <a:pPr lvl="1"/>
            <a:r>
              <a:rPr lang="en-US" sz="1800" b="1" i="0" u="none" strike="noStrike" dirty="0">
                <a:solidFill>
                  <a:srgbClr val="000000"/>
                </a:solidFill>
                <a:effectLst/>
                <a:latin typeface="Cambria" panose="02040503050406030204" pitchFamily="18" charset="0"/>
              </a:rPr>
              <a:t>Libraries</a:t>
            </a:r>
            <a:r>
              <a:rPr lang="en-US" sz="1800" b="0" i="0" u="none" strike="noStrike" dirty="0">
                <a:solidFill>
                  <a:srgbClr val="000000"/>
                </a:solidFill>
                <a:effectLst/>
                <a:latin typeface="Cambria" panose="02040503050406030204" pitchFamily="18" charset="0"/>
              </a:rPr>
              <a:t>:</a:t>
            </a:r>
          </a:p>
          <a:p>
            <a:pPr lvl="2"/>
            <a:r>
              <a:rPr lang="en-US" dirty="0" err="1">
                <a:latin typeface="Cambria" panose="02040503050406030204" pitchFamily="18" charset="0"/>
                <a:ea typeface="Cambria" panose="02040503050406030204" pitchFamily="18" charset="0"/>
              </a:rPr>
              <a:t>Numpy</a:t>
            </a:r>
            <a:endParaRPr lang="en-US" dirty="0">
              <a:latin typeface="Cambria" panose="02040503050406030204" pitchFamily="18" charset="0"/>
              <a:ea typeface="Cambria" panose="02040503050406030204" pitchFamily="18" charset="0"/>
            </a:endParaRPr>
          </a:p>
          <a:p>
            <a:pPr lvl="2"/>
            <a:r>
              <a:rPr lang="en-US" dirty="0">
                <a:latin typeface="Cambria" panose="02040503050406030204" pitchFamily="18" charset="0"/>
                <a:ea typeface="Cambria" panose="02040503050406030204" pitchFamily="18" charset="0"/>
              </a:rPr>
              <a:t>Pandas</a:t>
            </a:r>
          </a:p>
          <a:p>
            <a:pPr lvl="2"/>
            <a:r>
              <a:rPr lang="en-US" dirty="0">
                <a:latin typeface="Cambria" panose="02040503050406030204" pitchFamily="18" charset="0"/>
                <a:ea typeface="Cambria" panose="02040503050406030204" pitchFamily="18" charset="0"/>
              </a:rPr>
              <a:t>Generative AI Models</a:t>
            </a:r>
            <a:endParaRPr lang="en-US" b="1" u="sng" dirty="0">
              <a:latin typeface="Cambria" panose="02040503050406030204" pitchFamily="18" charset="0"/>
              <a:ea typeface="Cambria" panose="02040503050406030204" pitchFamily="18" charset="0"/>
            </a:endParaRPr>
          </a:p>
          <a:p>
            <a:pPr lvl="2"/>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rtl="0">
              <a:spcBef>
                <a:spcPts val="1200"/>
              </a:spcBef>
              <a:spcAft>
                <a:spcPts val="200"/>
              </a:spcAft>
            </a:pPr>
            <a:r>
              <a:rPr lang="en-US" b="1" dirty="0">
                <a:solidFill>
                  <a:srgbClr val="000000"/>
                </a:solidFill>
                <a:latin typeface="Cambria" panose="02040503050406030204" pitchFamily="18" charset="0"/>
              </a:rPr>
              <a:t>Hardware</a:t>
            </a:r>
            <a:r>
              <a:rPr lang="en-US" b="1" i="0" u="none" strike="noStrike" dirty="0">
                <a:solidFill>
                  <a:srgbClr val="000000"/>
                </a:solidFill>
                <a:effectLst/>
                <a:latin typeface="Cambria" panose="02040503050406030204" pitchFamily="18" charset="0"/>
              </a:rPr>
              <a:t> Requirements:</a:t>
            </a:r>
            <a:endParaRPr lang="en-US" sz="32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CPU/GPU</a:t>
            </a:r>
            <a:r>
              <a:rPr lang="en-US" sz="1800" b="0" i="0" u="none" strike="noStrike" dirty="0">
                <a:solidFill>
                  <a:srgbClr val="000000"/>
                </a:solidFill>
                <a:effectLst/>
                <a:latin typeface="Cambria" panose="02040503050406030204" pitchFamily="18" charset="0"/>
              </a:rPr>
              <a:t>:</a:t>
            </a:r>
            <a:endParaRPr lang="en-US" sz="11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CPU</a:t>
            </a:r>
            <a:r>
              <a:rPr lang="en-US" sz="1800" b="0" i="0" u="none" strike="noStrike" dirty="0">
                <a:solidFill>
                  <a:srgbClr val="000000"/>
                </a:solidFill>
                <a:effectLst/>
                <a:latin typeface="Cambria" panose="02040503050406030204" pitchFamily="18" charset="0"/>
              </a:rPr>
              <a:t>: </a:t>
            </a:r>
            <a:r>
              <a:rPr lang="en-US" sz="1800" dirty="0">
                <a:solidFill>
                  <a:srgbClr val="000000"/>
                </a:solidFill>
                <a:latin typeface="Cambria" panose="02040503050406030204" pitchFamily="18" charset="0"/>
              </a:rPr>
              <a:t>i5 10</a:t>
            </a:r>
            <a:r>
              <a:rPr lang="en-US" sz="1800" baseline="30000" dirty="0">
                <a:solidFill>
                  <a:srgbClr val="000000"/>
                </a:solidFill>
                <a:latin typeface="Cambria" panose="02040503050406030204" pitchFamily="18" charset="0"/>
              </a:rPr>
              <a:t>th</a:t>
            </a:r>
            <a:r>
              <a:rPr lang="en-US" sz="1800" dirty="0">
                <a:solidFill>
                  <a:srgbClr val="000000"/>
                </a:solidFill>
                <a:latin typeface="Cambria" panose="02040503050406030204" pitchFamily="18" charset="0"/>
              </a:rPr>
              <a:t> gen or greater</a:t>
            </a:r>
            <a:endParaRPr lang="en-US" sz="11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GPU</a:t>
            </a:r>
            <a:r>
              <a:rPr lang="en-US" sz="1800" b="0" i="0" u="none" strike="noStrike" dirty="0">
                <a:solidFill>
                  <a:srgbClr val="000000"/>
                </a:solidFill>
                <a:effectLst/>
                <a:latin typeface="Cambria" panose="02040503050406030204" pitchFamily="18" charset="0"/>
              </a:rPr>
              <a:t> : GTX1650ti or greater</a:t>
            </a:r>
            <a:endParaRPr lang="en-US" sz="11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Memory</a:t>
            </a:r>
            <a:r>
              <a:rPr lang="en-US" sz="1800" b="0" i="0" u="none" strike="noStrike" dirty="0">
                <a:solidFill>
                  <a:srgbClr val="000000"/>
                </a:solidFill>
                <a:effectLst/>
                <a:latin typeface="Cambria" panose="02040503050406030204" pitchFamily="18" charset="0"/>
              </a:rPr>
              <a:t>: 16GB RAM for small-scale development.</a:t>
            </a:r>
            <a:endParaRPr lang="en-US" sz="1100" b="0" dirty="0">
              <a:effectLst/>
            </a:endParaRPr>
          </a:p>
          <a:p>
            <a:pPr lvl="1">
              <a:spcBef>
                <a:spcPts val="1200"/>
              </a:spcBef>
              <a:spcAft>
                <a:spcPts val="1200"/>
              </a:spcAft>
            </a:pPr>
            <a:r>
              <a:rPr lang="en-US" sz="1800" b="1" i="0" u="none" strike="noStrike" dirty="0">
                <a:solidFill>
                  <a:srgbClr val="000000"/>
                </a:solidFill>
                <a:effectLst/>
                <a:latin typeface="Cambria" panose="02040503050406030204" pitchFamily="18" charset="0"/>
              </a:rPr>
              <a:t>Storage</a:t>
            </a:r>
            <a:r>
              <a:rPr lang="en-US" sz="1800" b="0" i="0" u="none" strike="noStrike" dirty="0">
                <a:solidFill>
                  <a:srgbClr val="000000"/>
                </a:solidFill>
                <a:effectLst/>
                <a:latin typeface="Cambria" panose="02040503050406030204" pitchFamily="18" charset="0"/>
              </a:rPr>
              <a:t>: 512 GB or more</a:t>
            </a:r>
            <a:endParaRPr lang="en-US" sz="1100" b="0" dirty="0">
              <a:effectLst/>
            </a:endParaRPr>
          </a:p>
        </p:txBody>
      </p:sp>
    </p:spTree>
    <p:extLst>
      <p:ext uri="{BB962C8B-B14F-4D97-AF65-F5344CB8AC3E}">
        <p14:creationId xmlns:p14="http://schemas.microsoft.com/office/powerpoint/2010/main" val="1685571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7" name="Picture 6">
            <a:extLst>
              <a:ext uri="{FF2B5EF4-FFF2-40B4-BE49-F238E27FC236}">
                <a16:creationId xmlns:a16="http://schemas.microsoft.com/office/drawing/2014/main" id="{E28D6FF1-6563-0648-35F7-728E1469794C}"/>
              </a:ext>
            </a:extLst>
          </p:cNvPr>
          <p:cNvPicPr>
            <a:picLocks noChangeAspect="1"/>
          </p:cNvPicPr>
          <p:nvPr/>
        </p:nvPicPr>
        <p:blipFill>
          <a:blip r:embed="rId3"/>
          <a:stretch>
            <a:fillRect/>
          </a:stretch>
        </p:blipFill>
        <p:spPr>
          <a:xfrm>
            <a:off x="745526" y="944078"/>
            <a:ext cx="10802548" cy="5017107"/>
          </a:xfrm>
          <a:prstGeom prst="rect">
            <a:avLst/>
          </a:prstGeom>
        </p:spPr>
      </p:pic>
      <p:sp>
        <p:nvSpPr>
          <p:cNvPr id="2" name="Google Shape;114;p17">
            <a:extLst>
              <a:ext uri="{FF2B5EF4-FFF2-40B4-BE49-F238E27FC236}">
                <a16:creationId xmlns:a16="http://schemas.microsoft.com/office/drawing/2014/main" id="{54F0617A-EFD5-5304-5C8A-6DEC37F1E29D}"/>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hlinkClick r:id="rId3"/>
              </a:rPr>
              <a:t>https://www.ijcrt.org/papers/IJCRT2401112.pdf</a:t>
            </a:r>
            <a:endParaRPr lang="en-US" dirty="0">
              <a:latin typeface="Cambria" panose="02040503050406030204" pitchFamily="18" charset="0"/>
              <a:ea typeface="Cambria" panose="02040503050406030204" pitchFamily="18" charset="0"/>
            </a:endParaRP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hlinkClick r:id="rId4"/>
              </a:rPr>
              <a:t>https://ijrpr.com/uploads/V5ISSUE1/IJRPR21816.pdf</a:t>
            </a:r>
            <a:endParaRPr lang="en-US" dirty="0">
              <a:latin typeface="Cambria" panose="02040503050406030204" pitchFamily="18" charset="0"/>
              <a:ea typeface="Cambria" panose="02040503050406030204" pitchFamily="18" charset="0"/>
            </a:endParaRP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hlinkClick r:id="rId5"/>
              </a:rPr>
              <a:t>https://www.indeed.com/career-advice/career-development/how-to-cite-a-research-paper</a:t>
            </a:r>
            <a:r>
              <a:rPr lang="en-US" dirty="0">
                <a:latin typeface="Cambria" panose="02040503050406030204" pitchFamily="18" charset="0"/>
                <a:ea typeface="Cambria" panose="02040503050406030204" pitchFamily="18" charset="0"/>
              </a:rPr>
              <a:t> </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hlinkClick r:id="rId6"/>
              </a:rPr>
              <a:t>https://ijrpr.com/uploads/V6ISSUE1/IJRPR37854.pdf</a:t>
            </a:r>
            <a:r>
              <a:rPr lang="en-US" dirty="0">
                <a:latin typeface="Cambria" panose="02040503050406030204" pitchFamily="18" charset="0"/>
                <a:ea typeface="Cambria" panose="02040503050406030204" pitchFamily="18" charset="0"/>
              </a:rPr>
              <a:t>  </a:t>
            </a:r>
            <a:r>
              <a:rPr lang="en-US" sz="1200" dirty="0">
                <a:latin typeface="Cambria" panose="02040503050406030204" pitchFamily="18" charset="0"/>
                <a:ea typeface="Cambria" panose="02040503050406030204" pitchFamily="18" charset="0"/>
              </a:rPr>
              <a:t>(Our Teams Research Paper)</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736</Words>
  <Application>Microsoft Office PowerPoint</Application>
  <PresentationFormat>Widescreen</PresentationFormat>
  <Paragraphs>85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Cambria</vt:lpstr>
      <vt:lpstr>Verdana</vt:lpstr>
      <vt:lpstr>Wingdings</vt:lpstr>
      <vt:lpstr>Bioinformatics</vt:lpstr>
      <vt:lpstr>Diagnosis of acute diseases in villages and smaller  towns using AI</vt:lpstr>
      <vt:lpstr>Content</vt:lpstr>
      <vt:lpstr>Problem Statement Number: PSCS46 </vt:lpstr>
      <vt:lpstr>GitHub Link</vt:lpstr>
      <vt:lpstr>Analysis of Problem Statement</vt:lpstr>
      <vt:lpstr>Analysis of Problem Statement  (contd...)</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ABDUL RAHMAN MANSOORI</cp:lastModifiedBy>
  <cp:revision>45</cp:revision>
  <dcterms:created xsi:type="dcterms:W3CDTF">2024-09-17T13:45:13Z</dcterms:created>
  <dcterms:modified xsi:type="dcterms:W3CDTF">2025-01-20T17:27:54Z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F06DC93E5FA546D6BDC86BC82A82DBBB_13</vt:lpwstr>
  </property>
  <property fmtid="{D5CDD505-2E9C-101B-9397-08002B2CF9AE}" pid="3" name="KSOProductBuildVer">
    <vt:lpwstr>1033-12.2.0.13472</vt:lpwstr>
  </property>
</Properties>
</file>